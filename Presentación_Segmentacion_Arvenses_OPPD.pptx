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MX" sz="1800" b="0" i="0" u="none" strike="noStrike">
                <a:solidFill>
                  <a:srgbClr val="000000"/>
                </a:solidFill>
                <a:latin typeface="Arial"/>
              </a:rPr>
              <a:t>Distribución de Especies (Top 5 + Otras)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Bounding boxes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47C-4C94-8FDF-0A23DEFA8EB5}"/>
              </c:ext>
            </c:extLst>
          </c:dPt>
          <c:dPt>
            <c:idx val="1"/>
            <c:invertIfNegative val="0"/>
            <c:bubble3D val="0"/>
            <c:spPr>
              <a:solidFill>
                <a:srgbClr val="2E6D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47C-4C94-8FDF-0A23DEFA8EB5}"/>
              </c:ext>
            </c:extLst>
          </c:dPt>
          <c:dPt>
            <c:idx val="2"/>
            <c:invertIfNegative val="0"/>
            <c:bubble3D val="0"/>
            <c:spPr>
              <a:solidFill>
                <a:srgbClr val="5B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47C-4C94-8FDF-0A23DEFA8EB5}"/>
              </c:ext>
            </c:extLst>
          </c:dPt>
          <c:dPt>
            <c:idx val="3"/>
            <c:invertIfNegative val="0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47C-4C94-8FDF-0A23DEFA8EB5}"/>
              </c:ext>
            </c:extLst>
          </c:dPt>
          <c:dPt>
            <c:idx val="4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47C-4C94-8FDF-0A23DEFA8EB5}"/>
              </c:ext>
            </c:extLst>
          </c:dPt>
          <c:dPt>
            <c:idx val="5"/>
            <c:invertIfNegative val="0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47C-4C94-8FDF-0A23DEFA8EB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CHEAL</c:v>
                </c:pt>
                <c:pt idx="1">
                  <c:v>FUMOF</c:v>
                </c:pt>
                <c:pt idx="2">
                  <c:v>SOLNI</c:v>
                </c:pt>
                <c:pt idx="3">
                  <c:v>VERPE</c:v>
                </c:pt>
                <c:pt idx="4">
                  <c:v>POLCO</c:v>
                </c:pt>
                <c:pt idx="5">
                  <c:v>Otras (47)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</c:v>
                </c:pt>
                <c:pt idx="1">
                  <c:v>640</c:v>
                </c:pt>
                <c:pt idx="2">
                  <c:v>480</c:v>
                </c:pt>
                <c:pt idx="3">
                  <c:v>380</c:v>
                </c:pt>
                <c:pt idx="4">
                  <c:v>290</c:v>
                </c:pt>
                <c:pt idx="5">
                  <c:v>1284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47C-4C94-8FDF-0A23DEFA8E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CO" sz="1800" b="0" i="0" u="none" strike="noStrike">
                <a:solidFill>
                  <a:srgbClr val="000000"/>
                </a:solidFill>
                <a:latin typeface="Arial"/>
              </a:rPr>
              <a:t>Imágenes por Trial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Número de imágenes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DF7-4EA7-BFDA-51974C888EF8}"/>
              </c:ext>
            </c:extLst>
          </c:dPt>
          <c:dPt>
            <c:idx val="1"/>
            <c:invertIfNegative val="0"/>
            <c:bubble3D val="0"/>
            <c:spPr>
              <a:solidFill>
                <a:srgbClr val="2E6D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F7-4EA7-BFDA-51974C888EF8}"/>
              </c:ext>
            </c:extLst>
          </c:dPt>
          <c:dPt>
            <c:idx val="2"/>
            <c:invertIfNegative val="0"/>
            <c:bubble3D val="0"/>
            <c:spPr>
              <a:solidFill>
                <a:srgbClr val="5B9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F7-4EA7-BFDA-51974C888EF8}"/>
              </c:ext>
            </c:extLst>
          </c:dPt>
          <c:dPt>
            <c:idx val="3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DF7-4EA7-BFDA-51974C888EF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T01</c:v>
                </c:pt>
                <c:pt idx="1">
                  <c:v>T02</c:v>
                </c:pt>
                <c:pt idx="2">
                  <c:v>T03</c:v>
                </c:pt>
                <c:pt idx="3">
                  <c:v>T04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24</c:v>
                </c:pt>
                <c:pt idx="2">
                  <c:v>31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DF7-4EA7-BFDA-51974C888E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5A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28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75DA-945F-0632-25A6-0A8E116F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9B78E-FAF4-F549-3488-B8E42CCA8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A250B-B145-5EDC-D81A-B3A1523CA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3010B-A498-B227-F1CA-80A4AC7A1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29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BC6AC-70F5-7210-C265-9E814A08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6752B-A63D-37C2-FC12-F32F47B4F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2404C-2EE2-8C47-4995-A53886EFA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AD245-00A1-398B-522C-4DB1B62CD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E6DA4">
              <a:alpha val="35000"/>
            </a:srgbClr>
          </a:solidFill>
          <a:ln w="12700">
            <a:solidFill>
              <a:srgbClr val="2E6DA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5B9BD5">
              <a:alpha val="30000"/>
            </a:srgbClr>
          </a:solidFill>
          <a:ln w="12700">
            <a:solidFill>
              <a:srgbClr val="5B9BD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347472"/>
            <a:ext cx="2926080" cy="292608"/>
          </a:xfrm>
          <a:prstGeom prst="rect">
            <a:avLst/>
          </a:prstGeom>
          <a:solidFill>
            <a:srgbClr val="5B9BD5">
              <a:alpha val="70000"/>
            </a:srgbClr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347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BIG DATA Y BIOINFORMÁTICA — PROYECTO FINAL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y Clasificación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de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Arvenses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deseadas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Digital de Imágenes y Visión por Computador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Dataset OPPD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36576"/>
          </a:xfrm>
          <a:prstGeom prst="rect">
            <a:avLst/>
          </a:prstGeom>
          <a:solidFill>
            <a:srgbClr val="5B9BD5">
              <a:alpha val="60000"/>
            </a:srgbClr>
          </a:solidFill>
          <a:ln w="12700">
            <a:solidFill>
              <a:srgbClr val="5B9BD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DD7EE"/>
                </a:solidFill>
              </a:rPr>
              <a:t>Mariana Castaño Giraldo  ·  Linda Liceth Cadena Trujillo  ·  Juan José Pineda Pedraza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8BAA"/>
                </a:solidFill>
              </a:rPr>
              <a:t>Ingeniería Agronómica — Universidad EAFIT, Medellín, Colombia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2E6DA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Dataset OPPD  ·  Gaussian Naïve Bayes  ·  PlantCV  ·  scikit-image  ·  Python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692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Contexto y Motivación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¿Por qué clasificar arvenses automáticamente?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502920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9019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Dataset OPPD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585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Descripción y exploración estadística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502920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277977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8346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Pipeline — QUÉ hacemos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191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Componentes del sistema de visión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12464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502920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6732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CÓMO lo hacemos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239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Espacios de color, segmentación, morfología, ML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502920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754880" y="914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9692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Códigos clave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1325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Fragmentos más importantes del notebook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847088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754880" y="1847088"/>
            <a:ext cx="502920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754880" y="184708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9019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Resultados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22585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Segmentación comparada y clasificación GNB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779776"/>
            <a:ext cx="4114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754880" y="2779776"/>
            <a:ext cx="502920" cy="777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754880" y="277977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8346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Conclusiones y PARA QUÉ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3191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Impacto en agricultura de precisión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Motivación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¿POR QUÉ?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6517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Amenaza real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</a:rPr>
              <a:t>Las arvenses reducen rendimientos agrícolas entre un 10% y 50% en casos severos, afectando la seguridad alimentaria global.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517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💸  Métodos tradicionales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659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</a:rPr>
              <a:t>Las inspecciones manuales y el uso indiscriminado de herbicidas son costosos, contaminantes y fomentan resistencia de especies.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65176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2648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🔬  Solución propuesta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9659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 err="1">
                <a:solidFill>
                  <a:srgbClr val="1A2B3C"/>
                </a:solidFill>
              </a:rPr>
              <a:t>Construir</a:t>
            </a:r>
            <a:r>
              <a:rPr lang="en-US" sz="1150" dirty="0">
                <a:solidFill>
                  <a:srgbClr val="1A2B3C"/>
                </a:solidFill>
              </a:rPr>
              <a:t> un pipeline interpretable de </a:t>
            </a:r>
            <a:r>
              <a:rPr lang="en-US" sz="1150" dirty="0" err="1">
                <a:solidFill>
                  <a:srgbClr val="1A2B3C"/>
                </a:solidFill>
              </a:rPr>
              <a:t>visión</a:t>
            </a:r>
            <a:r>
              <a:rPr lang="en-US" sz="1150" dirty="0">
                <a:solidFill>
                  <a:srgbClr val="1A2B3C"/>
                </a:solidFill>
              </a:rPr>
              <a:t> </a:t>
            </a:r>
            <a:r>
              <a:rPr lang="en-US" sz="1150" dirty="0" err="1">
                <a:solidFill>
                  <a:srgbClr val="1A2B3C"/>
                </a:solidFill>
              </a:rPr>
              <a:t>por</a:t>
            </a:r>
            <a:r>
              <a:rPr lang="en-US" sz="1150" dirty="0">
                <a:solidFill>
                  <a:srgbClr val="1A2B3C"/>
                </a:solidFill>
              </a:rPr>
              <a:t> </a:t>
            </a:r>
            <a:r>
              <a:rPr lang="en-US" sz="1150" dirty="0" err="1">
                <a:solidFill>
                  <a:srgbClr val="1A2B3C"/>
                </a:solidFill>
              </a:rPr>
              <a:t>computador</a:t>
            </a:r>
            <a:r>
              <a:rPr lang="en-US" sz="1150" dirty="0">
                <a:solidFill>
                  <a:srgbClr val="1A2B3C"/>
                </a:solidFill>
              </a:rPr>
              <a:t> para </a:t>
            </a:r>
            <a:r>
              <a:rPr lang="en-US" sz="1150" dirty="0" err="1">
                <a:solidFill>
                  <a:srgbClr val="1A2B3C"/>
                </a:solidFill>
              </a:rPr>
              <a:t>segmentar</a:t>
            </a:r>
            <a:r>
              <a:rPr lang="en-US" sz="1150" dirty="0">
                <a:solidFill>
                  <a:srgbClr val="1A2B3C"/>
                </a:solidFill>
              </a:rPr>
              <a:t> y </a:t>
            </a:r>
            <a:r>
              <a:rPr lang="en-US" sz="1150" dirty="0" err="1">
                <a:solidFill>
                  <a:srgbClr val="1A2B3C"/>
                </a:solidFill>
              </a:rPr>
              <a:t>clasificar</a:t>
            </a:r>
            <a:r>
              <a:rPr lang="en-US" sz="1150" dirty="0">
                <a:solidFill>
                  <a:srgbClr val="1A2B3C"/>
                </a:solidFill>
              </a:rPr>
              <a:t> </a:t>
            </a:r>
            <a:r>
              <a:rPr lang="en-US" sz="1150" dirty="0" err="1">
                <a:solidFill>
                  <a:srgbClr val="1A2B3C"/>
                </a:solidFill>
              </a:rPr>
              <a:t>arvenses</a:t>
            </a:r>
            <a:r>
              <a:rPr lang="en-US" sz="1150" dirty="0">
                <a:solidFill>
                  <a:srgbClr val="1A2B3C"/>
                </a:solidFill>
              </a:rPr>
              <a:t> de forma </a:t>
            </a:r>
            <a:r>
              <a:rPr lang="en-US" sz="1150" dirty="0" err="1">
                <a:solidFill>
                  <a:srgbClr val="1A2B3C"/>
                </a:solidFill>
              </a:rPr>
              <a:t>automática</a:t>
            </a:r>
            <a:r>
              <a:rPr lang="en-US" sz="1150" dirty="0">
                <a:solidFill>
                  <a:srgbClr val="1A2B3C"/>
                </a:solidFill>
              </a:rPr>
              <a:t>, </a:t>
            </a:r>
            <a:r>
              <a:rPr lang="en-US" sz="1150" dirty="0" err="1">
                <a:solidFill>
                  <a:srgbClr val="1A2B3C"/>
                </a:solidFill>
              </a:rPr>
              <a:t>eficiente</a:t>
            </a:r>
            <a:r>
              <a:rPr lang="en-US" sz="1150" dirty="0">
                <a:solidFill>
                  <a:srgbClr val="1A2B3C"/>
                </a:solidFill>
              </a:rPr>
              <a:t> y de bajo </a:t>
            </a:r>
            <a:r>
              <a:rPr lang="en-US" sz="1150" dirty="0" err="1">
                <a:solidFill>
                  <a:srgbClr val="1A2B3C"/>
                </a:solidFill>
              </a:rPr>
              <a:t>costo</a:t>
            </a:r>
            <a:r>
              <a:rPr lang="en-US" sz="1150" dirty="0">
                <a:solidFill>
                  <a:srgbClr val="1A2B3C"/>
                </a:solidFill>
              </a:rPr>
              <a:t> </a:t>
            </a:r>
            <a:r>
              <a:rPr lang="en-US" sz="1150" dirty="0" err="1">
                <a:solidFill>
                  <a:srgbClr val="1A2B3C"/>
                </a:solidFill>
              </a:rPr>
              <a:t>computacional</a:t>
            </a:r>
            <a:r>
              <a:rPr lang="en-US" sz="1150" dirty="0">
                <a:solidFill>
                  <a:srgbClr val="1A2B3C"/>
                </a:solidFill>
              </a:rPr>
              <a:t>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A3A5C"/>
                </a:solidFill>
              </a:rPr>
              <a:t>"La visión clásica por computador: una herramienta de alto potencial para la modernización de la agricultura de precisión."</a:t>
            </a:r>
            <a:endParaRPr lang="en-US" sz="95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287069CC-0FBB-C0F3-A087-68DD69374F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0" t="18961" r="33500" b="1157"/>
          <a:stretch>
            <a:fillRect/>
          </a:stretch>
        </p:blipFill>
        <p:spPr>
          <a:xfrm>
            <a:off x="649956" y="2785802"/>
            <a:ext cx="1639336" cy="167044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2779BEE-C7DB-DB06-16D6-674294DE4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142" y="2936794"/>
            <a:ext cx="2122462" cy="1414974"/>
          </a:xfrm>
          <a:prstGeom prst="rect">
            <a:avLst/>
          </a:prstGeom>
        </p:spPr>
      </p:pic>
      <p:pic>
        <p:nvPicPr>
          <p:cNvPr id="26" name="Imagen 25" descr="¿Qué es la visión por computadora? Sistemas de visión artificial y ...">
            <a:extLst>
              <a:ext uri="{FF2B5EF4-FFF2-40B4-BE49-F238E27FC236}">
                <a16:creationId xmlns:a16="http://schemas.microsoft.com/office/drawing/2014/main" id="{9EC695C5-52A7-B68B-8566-97B1684AD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050742"/>
            <a:ext cx="2194560" cy="1234440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A8D1A34A-200F-36DF-B92C-32D5F5A967F4}"/>
              </a:ext>
            </a:extLst>
          </p:cNvPr>
          <p:cNvSpPr/>
          <p:nvPr/>
        </p:nvSpPr>
        <p:spPr>
          <a:xfrm>
            <a:off x="655320" y="4456246"/>
            <a:ext cx="187686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1A2B3C"/>
                </a:solidFill>
              </a:rPr>
              <a:t>Imagen 1. </a:t>
            </a:r>
            <a:r>
              <a:rPr lang="en-US" sz="1000" i="1">
                <a:solidFill>
                  <a:srgbClr val="1A2B3C"/>
                </a:solidFill>
              </a:rPr>
              <a:t>(b) figure 2 [1] </a:t>
            </a:r>
            <a:endParaRPr lang="en-US" sz="1000" i="1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536F79E7-6963-26CC-8AD6-489C44B59E7E}"/>
              </a:ext>
            </a:extLst>
          </p:cNvPr>
          <p:cNvSpPr/>
          <p:nvPr/>
        </p:nvSpPr>
        <p:spPr>
          <a:xfrm>
            <a:off x="3406142" y="4422249"/>
            <a:ext cx="187686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Imagen 2. </a:t>
            </a:r>
            <a:r>
              <a:rPr lang="en-US" sz="1000" i="1" dirty="0" err="1">
                <a:solidFill>
                  <a:srgbClr val="1A2B3C"/>
                </a:solidFill>
              </a:rPr>
              <a:t>Tomado</a:t>
            </a:r>
            <a:r>
              <a:rPr lang="en-US" sz="1000" i="1" dirty="0">
                <a:solidFill>
                  <a:srgbClr val="1A2B3C"/>
                </a:solidFill>
              </a:rPr>
              <a:t> de  [2] </a:t>
            </a:r>
            <a:endParaRPr lang="en-US" sz="1000" i="1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80B16D05-1C5B-194C-A4EB-EC3D5ED55740}"/>
              </a:ext>
            </a:extLst>
          </p:cNvPr>
          <p:cNvSpPr/>
          <p:nvPr/>
        </p:nvSpPr>
        <p:spPr>
          <a:xfrm>
            <a:off x="6263640" y="4351768"/>
            <a:ext cx="187686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Imagen 3. </a:t>
            </a:r>
            <a:r>
              <a:rPr lang="en-US" sz="1000" i="1" dirty="0" err="1">
                <a:solidFill>
                  <a:srgbClr val="1A2B3C"/>
                </a:solidFill>
              </a:rPr>
              <a:t>Tomado</a:t>
            </a:r>
            <a:r>
              <a:rPr lang="en-US" sz="1000" i="1" dirty="0">
                <a:solidFill>
                  <a:srgbClr val="1A2B3C"/>
                </a:solidFill>
              </a:rPr>
              <a:t> de [3] </a:t>
            </a:r>
            <a:endParaRPr lang="en-US" sz="10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OPPD — Open Plant Phenotyping Database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2024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</a:rPr>
              <a:t>98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</a:rPr>
              <a:t>Imágenes RGB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</a:rPr>
              <a:t>3000 × 4096 px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192024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1460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</a:rPr>
              <a:t>3,894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1460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</a:rPr>
              <a:t>Bounding boxes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</a:rPr>
              <a:t>anotados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66344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</a:rPr>
              <a:t>52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</a:rPr>
              <a:t>Especies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</a:rPr>
              <a:t>(códigos EPPO)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280160"/>
            <a:ext cx="192024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1228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</a:rPr>
              <a:t>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812280" y="2057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</a:rPr>
              <a:t>Trials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</a:rPr>
              <a:t>de campo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DA4"/>
                </a:solidFill>
              </a:rPr>
              <a:t>Estructura del dataset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337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• 97 archivos de anotación JSON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6850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• Cada imagen → bounding boxes (coordenadas, clase EPPO)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0325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• Mediana: 40 objetos por imagen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3799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• Área de bbox: desde &lt;1,000 hasta &gt;500,000 px²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0060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DA4"/>
                </a:solidFill>
              </a:rPr>
              <a:t>Clases y distribución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337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• Sistema de codificación EPPO internacional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6850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• Marcado desbalanceo: top-3 especies &gt; 60% anotaciones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40325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• Especies: Chenopodium album (CHEAL), Fumaria officinalis (FUMOF)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43799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• Alta heterogeneidad morfológica entre plántulas y adultas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Hacemos? — Pipeline de Visión por Computador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EL QUÉ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777240" cy="77724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Exploración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del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35608" y="1673352"/>
            <a:ext cx="320040" cy="91440"/>
          </a:xfrm>
          <a:prstGeom prst="rect">
            <a:avLst/>
          </a:prstGeom>
          <a:solidFill>
            <a:srgbClr val="6B8BAA"/>
          </a:solidFill>
          <a:ln w="12700">
            <a:solidFill>
              <a:srgbClr val="6B8B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084832" y="1325880"/>
            <a:ext cx="777240" cy="77724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084832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56232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Espacios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de Color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1673352"/>
            <a:ext cx="320040" cy="91440"/>
          </a:xfrm>
          <a:prstGeom prst="rect">
            <a:avLst/>
          </a:prstGeom>
          <a:solidFill>
            <a:srgbClr val="6B8BAA"/>
          </a:solidFill>
          <a:ln w="12700">
            <a:solidFill>
              <a:srgbClr val="6B8B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529584" y="1325880"/>
            <a:ext cx="777240" cy="77724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529584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00984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Segmen-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tación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25112" y="1673352"/>
            <a:ext cx="320040" cy="91440"/>
          </a:xfrm>
          <a:prstGeom prst="rect">
            <a:avLst/>
          </a:prstGeom>
          <a:solidFill>
            <a:srgbClr val="6B8BAA"/>
          </a:solidFill>
          <a:ln w="12700">
            <a:solidFill>
              <a:srgbClr val="6B8B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974336" y="1325880"/>
            <a:ext cx="777240" cy="7772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74336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45736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Refinamiento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Morfológico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69864" y="1673352"/>
            <a:ext cx="320040" cy="91440"/>
          </a:xfrm>
          <a:prstGeom prst="rect">
            <a:avLst/>
          </a:prstGeom>
          <a:solidFill>
            <a:srgbClr val="6B8BAA"/>
          </a:solidFill>
          <a:ln w="12700">
            <a:solidFill>
              <a:srgbClr val="6B8B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419088" y="1325880"/>
            <a:ext cx="777240" cy="777240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419088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90488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Extracción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Características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14616" y="1673352"/>
            <a:ext cx="320040" cy="91440"/>
          </a:xfrm>
          <a:prstGeom prst="rect">
            <a:avLst/>
          </a:prstGeom>
          <a:solidFill>
            <a:srgbClr val="6B8BAA"/>
          </a:solidFill>
          <a:ln w="12700">
            <a:solidFill>
              <a:srgbClr val="6B8B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863840" y="1325880"/>
            <a:ext cx="777240" cy="7772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86384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635240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Clasificación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GNB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9718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365760" y="2971800"/>
            <a:ext cx="64008" cy="1828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30352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</a:rPr>
              <a:t>Entrada: Imágenes RGB de campo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0352" y="3438144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98 imágenes de alta resolución (3000×4096 px) con anotaciones JSON de bounding boxes para 52 especies de arvenses.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29718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3246120" y="2971800"/>
            <a:ext cx="64008" cy="18288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410712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</a:rPr>
              <a:t>Salida: Clasificación de especies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410712" y="3438144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Cada planta recortada es clasificada en su especie usando un vector de 18 características cromáticas (RGB, HSV, LAB).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9718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6126480" y="2971800"/>
            <a:ext cx="64008" cy="18288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291072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5C"/>
                </a:solidFill>
              </a:rPr>
              <a:t>Objetivo central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91072" y="3438144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Demostrar que métodos clásicos de visión por computador son eficaces, interpretables y computacionalmente accesibles para la agricultura.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Hacemos? — Análisis de Espacios de Color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EL CÓMO — PASO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69748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🔴🟢🔵  Espacio RGB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Canal G (Verde)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Umbral manual inicial.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Sensible a cambios de iluminación.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97480" cy="6400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337560" y="1325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🌈  Espacio HSV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55848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DA4"/>
                </a:solidFill>
              </a:rPr>
              <a:t>Canal H (Matiz)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Desacopla matiz de luminosidad.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Más robusto ante cambios de luz.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69748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217920" y="1325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🌿  Espacio LAB a*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36208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Canal a* (Verde↔Rojo)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24688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⭐ MEJOR RESULTADO: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Valores negativos = verde (plantas)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Valores positivos = suelo/ocre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7D32"/>
                </a:solidFill>
              </a:rPr>
              <a:t>💡  El canal a* del espacio LAB encapsula directamente la oposición clorofila↔suelo, sin depender de parámetros manuales.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Hacemos? — Segmentación por Umbralización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EL CÓMO — PASO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Umbral Manual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73"/>
                </a:solidFill>
              </a:rPr>
              <a:t>Canal: Canal G (RGB)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258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73"/>
                </a:solidFill>
              </a:rPr>
              <a:t>Umbral: G &gt; 0.5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2651760"/>
            <a:ext cx="2478024" cy="36576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548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</a:rPr>
              <a:t>Resultado: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30175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2828"/>
                </a:solidFill>
              </a:rPr>
              <a:t>❌ Sensible a iluminación.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62828"/>
                </a:solidFill>
              </a:rPr>
              <a:t>Clasifica suelo reflectante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62828"/>
                </a:solidFill>
              </a:rPr>
              <a:t>como planta.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2801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337560" y="1371600"/>
            <a:ext cx="502920" cy="5029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3375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Otsu — Canal 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73"/>
                </a:solidFill>
              </a:rPr>
              <a:t>Canal: Canal H (HSV)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2258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73"/>
                </a:solidFill>
              </a:rPr>
              <a:t>Umbral: H &gt; θ_Otsu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55848" y="2651760"/>
            <a:ext cx="2478024" cy="36576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35584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</a:rPr>
              <a:t>Resultado: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5848" y="30175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</a:rPr>
              <a:t>⚠️ Mejor consistencia.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</a:rPr>
              <a:t>Fragmenta hojas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A020"/>
                </a:solidFill>
              </a:rPr>
              <a:t>senescentes.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128016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2179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Otsu — Canal a*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1965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73"/>
                </a:solidFill>
              </a:rPr>
              <a:t>Canal: Canal a* (LAB)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36208" y="2258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A73"/>
                </a:solidFill>
              </a:rPr>
              <a:t>Umbral: a* &lt; θ_Otsu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2651760"/>
            <a:ext cx="2478024" cy="36576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23620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</a:rPr>
              <a:t>Resultado: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36208" y="30175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✅ MEJOR: Máscaras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coherentes y robustas.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E7D32"/>
                </a:solidFill>
              </a:rPr>
              <a:t>Separación limpia.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solidFill>
            <a:srgbClr val="BDD7EE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3A5C"/>
                </a:solidFill>
              </a:rPr>
              <a:t>La cobertura de píxeles clasificados como planta varía significativamente según el método — LAB a* produce los contornos más precisos.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Hacemos? — Refinamiento Morfológico con PlantCV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EL CÓMO — PASO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97480" cy="2286000"/>
          </a:xfrm>
          <a:prstGeom prst="rect">
            <a:avLst/>
          </a:prstGeom>
          <a:solidFill>
            <a:srgbClr val="E8EAF6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DA4"/>
                </a:solidFill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Cierre Morfológico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(7×7 px)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Conecta fragmentos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cercanos de hojas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Fragmentadas.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242316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🔧  scikit-image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97480" cy="2286000"/>
          </a:xfrm>
          <a:prstGeom prst="rect">
            <a:avLst/>
          </a:prstGeom>
          <a:solidFill>
            <a:srgbClr val="E8EAF6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3375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DA4"/>
                </a:solidFill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4760" y="13533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Relleno de Huecos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Internos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Llena regiones internas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en blobs de plantas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cerradas.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42316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383280" y="32461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🔧  scipy.ndimage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97480" cy="2286000"/>
          </a:xfrm>
          <a:prstGeom prst="rect">
            <a:avLst/>
          </a:prstGeom>
          <a:solidFill>
            <a:srgbClr val="E8EAF6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217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DA4"/>
                </a:solidFill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135331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Eliminación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Ruido (&lt; 200 px)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Elimina componentes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conexa muy pequeñas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(artefactos).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246120"/>
            <a:ext cx="2423160" cy="23774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263640" y="32461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🔧  PlantCV fill()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📊  Impacto del pipeline morfológico: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187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✔  Máscaras más compactas y continuas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4187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✔  Reducción de tasa de falsos positivos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✔  Menor dependencia de parámetros manuales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✔  Contornos consistentes para extracción de crops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💻  Código Clave — Segmentación con Canal LAB a*  (Bloque 9)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Método 3: Canal LAB a* — mejor separación planta/suelo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1704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Valores negativos de a* = verde; positivos = suelo/rojo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umbral_lab = threshold_otsu(A_band)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Plantas tienen a* MENOR que el umbral (más verdes)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mascara_lab = (A_band &lt; umbral_lab).astype('uint8')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596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 morfológico de limpieza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mascara_cerrada = ski.morphology.closing(mascara_base, footprint_7)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07238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mascara_rellena = ndi.binary_fill_holes(mascara_cerrada)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mascara_limpia  = pcv.fill(bin_img=mascara_rellena*255, size=200)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78561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Detección de bordes Canny para validación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bordes_canny = canny(A_band, sigma=2.0)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2611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overlay_canny = crop_img.copy()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44988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overlay_canny[bordes_canny] = [255, 0, 0]  # Bordes en rojo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846320"/>
            <a:ext cx="4114800" cy="256032"/>
          </a:xfrm>
          <a:prstGeom prst="rect">
            <a:avLst/>
          </a:prstGeom>
          <a:solidFill>
            <a:srgbClr val="1F6FEB">
              <a:alpha val="80000"/>
            </a:srgbClr>
          </a:solidFill>
          <a:ln w="1270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</a:rPr>
              <a:t>📌  threshold_otsu(): calcula automáticamente el umbral óptimo que minimiza varianza intra-clase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4846320"/>
            <a:ext cx="4114800" cy="256032"/>
          </a:xfrm>
          <a:prstGeom prst="rect">
            <a:avLst/>
          </a:prstGeom>
          <a:solidFill>
            <a:srgbClr val="238636">
              <a:alpha val="80000"/>
            </a:srgbClr>
          </a:solidFill>
          <a:ln w="1270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54880" y="4846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D364"/>
                </a:solidFill>
              </a:rPr>
              <a:t>📌  pcv.fill(): elimina componentes conexas &lt; 200 px (PlantCV) — reduce ruido de segmentación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💻  Código Clave — Extracción de 18 Características de Color  (Bloque 14)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cada bounding box: extraer crop y calcular estadísticas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197864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crop = img_rgb[y1:y2, x1:x2].astype('float32') / 255.0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crop_hsv = rgb2hsv(crop)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728216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crop_lab = rgb2lab(crop)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25856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18 características: media + desv. estándar por canal (RGB, HSV, LAB)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523744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 =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'r_mean': crop[:,:,0].mean(), 'r_std': crop[:,:,0].std(),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054096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'g_mean': crop[:,:,1].mean(), 'g_std': crop[:,:,1].std(),  # RGB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319272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'h_mean': crop_hsv[:,:,0].mean(), 'h_std': crop_hsv[:,:,0].std(),  # HSV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584448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'L_mean': crop_lab[:,:,0].mean(), 'a_mean': crop_lab[:,:,1].mean()  # LAB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849624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407408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4864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Vector de características por planta: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92024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RGB  ×6  (r/g/b: μ + σ)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0" y="4754880"/>
            <a:ext cx="1920240" cy="329184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651760" y="4754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HSV  ×6  (h/s/v: μ + σ)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4754880"/>
            <a:ext cx="192024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754880" y="4754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LAB  ×6  (L/a/b: μ + σ)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4754880"/>
            <a:ext cx="1920240" cy="32918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858000" y="4754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= 18 features  (por instancia)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💻  Código Clave — Clasificación Gaussian Naïve Bayes  (Bloque 15)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94360" y="9326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Preparar datos: X = 18 features, y = especie codificada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1612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df_ml_filtrado[columnas_X].values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= LabelEncoder()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le.fit_transform(df_ml_filtrado['clase'].values)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División 80/20 con estratificación por clase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3042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5328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random_state=42, stratify=y)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9900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Entrenar y evaluar Gaussian Naïve Bayes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2186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GaussianNB()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4472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modelo.fit(X_train, y_train)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6758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modelo.score(X_test, y_test)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9044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y_pred, target_names=le.classes_))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4864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¿Por qué Gaussian Naïve Bayes?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544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✅ Eficiente con vectores de características moderados (18 dims)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4544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✅ Alta interpretabilidad — asume distribución gaussiana por clase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7914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✅ Utilizado en las sesiones 12–13 del curso — consistencia metodológica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479145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</a:rPr>
              <a:t>✅ Adecuado para problemas multiclase desbalanceados como punto de partida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Comparación de Métodos de Segmentación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RESULTADOS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682496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Método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48256" y="1325880"/>
            <a:ext cx="1682496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048256" y="132588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30752" y="1325880"/>
            <a:ext cx="1682496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730752" y="132588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Umbral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13248" y="1325880"/>
            <a:ext cx="1682496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413248" y="132588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Cobertura de planta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95744" y="1325880"/>
            <a:ext cx="1682496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095744" y="1325880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Calidad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673352"/>
            <a:ext cx="1682496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11480" y="167335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Manual 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48256" y="1673352"/>
            <a:ext cx="1682496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2093976" y="167335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Verde RGB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30752" y="1673352"/>
            <a:ext cx="1682496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776472" y="167335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G &gt; 0.5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13248" y="1673352"/>
            <a:ext cx="1682496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458968" y="167335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~45-65%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95744" y="1673352"/>
            <a:ext cx="1682496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141464" y="167335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❌ Baja — sensible a luz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084832"/>
            <a:ext cx="168249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11480" y="20848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Otsu HSV 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48256" y="2084832"/>
            <a:ext cx="168249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2093976" y="20848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Matiz HSV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30752" y="2084832"/>
            <a:ext cx="168249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776472" y="20848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H &gt; θ_Otsu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13248" y="2084832"/>
            <a:ext cx="168249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458968" y="20848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~38-55%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95744" y="2084832"/>
            <a:ext cx="168249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7141464" y="208483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⚠️ Media — fragmenta hojas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496312"/>
            <a:ext cx="1682496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11480" y="249631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Otsu LAB a*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48256" y="2496312"/>
            <a:ext cx="1682496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2093976" y="249631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Verde↔Rojo LAB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30752" y="2496312"/>
            <a:ext cx="1682496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3776472" y="249631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a* &lt; θ_Otsu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13248" y="2496312"/>
            <a:ext cx="1682496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5458968" y="249631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~30-50%*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95744" y="2496312"/>
            <a:ext cx="1682496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7141464" y="2496312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3C"/>
                </a:solidFill>
              </a:rPr>
              <a:t>✅ Alta — separación limpia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</a:rPr>
              <a:t>Hallazgos clave: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342900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475488" y="3493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🌿  Canal a* de LAB es superior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" y="39136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La oposición verde-rojo discrimina naturalmente la clorofila del suelo, sin ajuste manual de parámetros.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46120" y="342900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3355848" y="3493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📊  Alta varianza de áreas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55848" y="39136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Desde plántulas (&lt;1,000 px²) hasta plantas adultas (&gt;500,000 px²) — la umbralización automática maneja esta variabilidad.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26480" y="342900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6236208" y="34930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🔧  Morfología reduce ruido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36208" y="39136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El pipeline de cierre+relleno+fill de PlantCV consolida máscaras fragmentadas en regiones compactas y continuas.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Clasificación con Gaussian Naïve Bayes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RESULTADOS 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📈  Métricas del modelo GNB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749040" cy="34747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División train/test: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80% / 20%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31136"/>
            <a:ext cx="374904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02920" y="2231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Características de entrada: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23113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18 (RGB+HSV+LAB)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3749040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02920" y="2633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Clases clasificadas: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6334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≥20 muestras c/u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3749040" cy="34747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02920" y="3035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Evaluación: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03580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Accuracy + F1-score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38144"/>
            <a:ext cx="3749040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02920" y="34381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CHEAL (C. album):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4381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F1 alto 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3749040" cy="347472"/>
          </a:xfrm>
          <a:prstGeom prst="rect">
            <a:avLst/>
          </a:prstGeom>
          <a:solidFill>
            <a:srgbClr val="C8E6C9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02920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FUMOF (F. officinalis):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8404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F1 alto 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3749040" cy="347472"/>
          </a:xfrm>
          <a:prstGeom prst="rect">
            <a:avLst/>
          </a:prstGeom>
          <a:solidFill>
            <a:srgbClr val="FFF9C4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02920" y="42428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Clases minoritarias: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424281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Mayor confusión ⚠️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128016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7091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</a:rPr>
              <a:t>⚠️  Análisis de Errores y Limitaciones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81728" y="1828800"/>
            <a:ext cx="54864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00600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Desbalanceo de clases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0600" y="213055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Las 3 especies más frecuentes concentran &gt;60% de las anotaciones. El clasificador favorece clases mayoritarias.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81728" y="2596896"/>
            <a:ext cx="54864" cy="640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80060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Solapamiento visual inter-especie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28986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Errores más frecuentes entre especies de morfología foliar y tonalidades similares.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81728" y="3364992"/>
            <a:ext cx="54864" cy="6400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480060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Limitaciones del GNB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36667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Asume independencia de características e igual covarianza — simplificación que afecta clases con alta variabilidad intra-clase.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81728" y="4133088"/>
            <a:ext cx="54864" cy="6400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800600" y="4151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Solo estadísticas globales de color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44348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A73"/>
                </a:solidFill>
              </a:rPr>
              <a:t>Sin texturas ni forma — información espacial local podría mejorar la discriminación.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791456"/>
            <a:ext cx="8412480" cy="274320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457200" y="47914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</a:rPr>
              <a:t>💡  Las características cromáticas del espacio LAB son las más discriminantes para la separación entre especies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Exploración Estadística del 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RESULTADOS EDA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344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577840" y="1234440"/>
          <a:ext cx="3200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3429000"/>
            <a:ext cx="3200400" cy="438912"/>
          </a:xfrm>
          <a:prstGeom prst="rect">
            <a:avLst/>
          </a:prstGeom>
          <a:solidFill>
            <a:srgbClr val="E8EAF6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5669280" y="34290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</a:rPr>
              <a:t>Mediana objetos/imagen:  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680960" y="34290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3A5C"/>
                </a:solidFill>
              </a:rPr>
              <a:t>40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577840" y="3931920"/>
            <a:ext cx="3200400" cy="438912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5669280" y="3931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</a:rPr>
              <a:t>Área mínima bbox:  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680960" y="39319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3A5C"/>
                </a:solidFill>
              </a:rPr>
              <a:t>&lt; 1,000 px²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577840" y="4434840"/>
            <a:ext cx="3200400" cy="438912"/>
          </a:xfrm>
          <a:prstGeom prst="rect">
            <a:avLst/>
          </a:prstGeom>
          <a:solidFill>
            <a:srgbClr val="C8E6C9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5669280" y="4434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73"/>
                </a:solidFill>
              </a:rPr>
              <a:t>Área máxima bbox:  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680960" y="44348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3A5C"/>
                </a:solidFill>
              </a:rPr>
              <a:t>&gt; 500,000 px²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BAA"/>
                </a:solidFill>
              </a:rPr>
              <a:t>*Nota: Los valores de distribución son aproximados representativos de la estructura del dataset OPPD.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— Análisis Comparativo y Lecciones Aprendidas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DISCUSIÓN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✅  Fortalezas del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✔  Alta interpretabilidad: cada paso es explicable y justificable físicamente.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✔  Bajo costo computacional: no requiere GPU ni datasets masivos de entrenamiento.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7980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✔  Transferibilidad: el canal a* del espacio LAB funciona para cualquier imagen de vegetación.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3284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✔  Pipeline reproducible: código estructurado en bloques independientes y documentados.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858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✔  Integración de herramientas especializadas: scikit-image + PlantCV + scipy.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0060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</a:rPr>
              <a:t>🔧  Oportunidades de mejora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7373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→  Incorporar características de textura (GLCM, LBP) para reducir confusión entre especies visualmente similares.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22677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→  Aplicar técnicas de aumento de datos (data augmentation) para balancear clases minoritarias.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7980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→  Probar clasificadores no lineales (Random Forest, SVM-RBF) para capturar relaciones complejas.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3284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→  Incluir descriptores de forma de PlantCV: área, perímetro, relación de aspecto, compacidad.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858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→  Escalar a las 7,590 imágenes del dataset completo para mayor robustez estadística.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BDD7EE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A5C"/>
                </a:solidFill>
              </a:rPr>
              <a:t>El pipeline clasico demuestra ser una herramienta viable y de alto potencial antes de recurrir a herramientas de deep learning más costosas.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Qué? — Impacto en Agricultura de Precisión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EL PARA QUÉ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20624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🚜  Aplicación selectiva de herbicidas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El sistema puede guiar equipos agrícolas para aplicar herbicidas SOLO en zonas con infestación detectada, reduciendo uso de agroquímicos hasta un 30-50%.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800600" y="1261872"/>
            <a:ext cx="4206240" cy="5029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92040" y="12618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📷  Integración con cámaras de campo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18288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El pipeline es compatible con cámaras RGB estándar montadas en drones o tractores, sin necesidad de sensores especializados.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53512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65760" y="2953512"/>
            <a:ext cx="42062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2953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Sistema de soporte a la decisión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35204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Las métricas de densidad de arvenses por especie y zona </a:t>
            </a:r>
            <a:r>
              <a:rPr lang="en-US" sz="1050" dirty="0" err="1">
                <a:solidFill>
                  <a:srgbClr val="1A2B3C"/>
                </a:solidFill>
              </a:rPr>
              <a:t>nos</a:t>
            </a:r>
            <a:r>
              <a:rPr lang="en-US" sz="1050" dirty="0">
                <a:solidFill>
                  <a:srgbClr val="1A2B3C"/>
                </a:solidFill>
              </a:rPr>
              <a:t> </a:t>
            </a:r>
            <a:r>
              <a:rPr lang="en-US" sz="1050" dirty="0" err="1">
                <a:solidFill>
                  <a:srgbClr val="1A2B3C"/>
                </a:solidFill>
              </a:rPr>
              <a:t>permite</a:t>
            </a:r>
            <a:r>
              <a:rPr lang="en-US" sz="1050" dirty="0">
                <a:solidFill>
                  <a:srgbClr val="1A2B3C"/>
                </a:solidFill>
              </a:rPr>
              <a:t> </a:t>
            </a:r>
            <a:r>
              <a:rPr lang="en-US" sz="1050" dirty="0" err="1">
                <a:solidFill>
                  <a:srgbClr val="1A2B3C"/>
                </a:solidFill>
              </a:rPr>
              <a:t>como</a:t>
            </a:r>
            <a:r>
              <a:rPr lang="en-US" sz="1050" dirty="0">
                <a:solidFill>
                  <a:srgbClr val="1A2B3C"/>
                </a:solidFill>
              </a:rPr>
              <a:t> </a:t>
            </a:r>
            <a:r>
              <a:rPr lang="en-US" sz="1050" dirty="0" err="1">
                <a:solidFill>
                  <a:srgbClr val="1A2B3C"/>
                </a:solidFill>
              </a:rPr>
              <a:t>agrónomos</a:t>
            </a:r>
            <a:r>
              <a:rPr lang="en-US" sz="1050" dirty="0">
                <a:solidFill>
                  <a:srgbClr val="1A2B3C"/>
                </a:solidFill>
              </a:rPr>
              <a:t>  planificar estrategias de manejo diferenciadas.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953512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800600" y="2953512"/>
            <a:ext cx="42062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92040" y="2953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Reducción de costos y sostenibilidad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0328" y="35204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Menor uso de herbicidas → menor contaminación, menor resistencia de arvenses y reducción directa de costos de producción agrícola.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DD7EE"/>
                </a:solidFill>
              </a:rPr>
              <a:t>🌎  "Reducir el uso de agroquímicos y sus efectos ambientales adversos — visión clásica como base para la modernización de la agricultura."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5B9BD5">
              <a:alpha val="70000"/>
            </a:srgbClr>
          </a:solidFill>
          <a:ln w="12700">
            <a:solidFill>
              <a:srgbClr val="5B9BD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7EE"/>
                </a:solidFill>
              </a:rPr>
              <a:t>El canal a* del espacio LAB es el más eficiente para segmentar vegetación en imágenes de campo, superando al canal G de RGB y H de HSV en robustez y calidad de máscara.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659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7EE"/>
                </a:solidFill>
              </a:rPr>
              <a:t>El pipeline morfológico (cierre + relleno + eliminación de ruido con PlantCV) es esencial para convertir máscaras ruidosas en regiones compactas aptas para análisis.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7EE"/>
                </a:solidFill>
              </a:rPr>
              <a:t>El Gaussian Naïve Bayes sobre 18 características cromáticas es eficaz para clases con suficientes muestras; el desbalanceo limita la clasificación de especies minoritarias.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7EE"/>
                </a:solidFill>
              </a:rPr>
              <a:t>La visión por computador clásica es una herramienta viable, interpretable y de bajo costo computacional — base ideal para sistemas de soporte a la decisión agronómica.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2E6DA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65760" y="4736592"/>
            <a:ext cx="8412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Mariana Castaño · Linda Cadena · Juan José Pineda  |  Big Data y Bioinformática — Universidad EAFIT  |  Medellín,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E1110-5985-1F95-3E56-6A8417CEB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780E7B-CA00-D16A-0F2B-1408C8D7F8B6}"/>
              </a:ext>
            </a:extLst>
          </p:cNvPr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E6DA4">
              <a:alpha val="35000"/>
            </a:srgbClr>
          </a:solidFill>
          <a:ln w="12700">
            <a:solidFill>
              <a:srgbClr val="2E6DA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33EF599-D0CF-0824-DD79-86AA5F43AD6B}"/>
              </a:ext>
            </a:extLst>
          </p:cNvPr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5B9BD5">
              <a:alpha val="30000"/>
            </a:srgbClr>
          </a:solidFill>
          <a:ln w="12700">
            <a:solidFill>
              <a:srgbClr val="5B9BD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C0C0FF-90A0-2D23-4BF8-C40DB8038B00}"/>
              </a:ext>
            </a:extLst>
          </p:cNvPr>
          <p:cNvSpPr/>
          <p:nvPr/>
        </p:nvSpPr>
        <p:spPr>
          <a:xfrm>
            <a:off x="-457200" y="3200400"/>
            <a:ext cx="2560320" cy="256032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FE30A9-D653-5CA6-0530-5E68BBBF1675}"/>
              </a:ext>
            </a:extLst>
          </p:cNvPr>
          <p:cNvSpPr/>
          <p:nvPr/>
        </p:nvSpPr>
        <p:spPr>
          <a:xfrm>
            <a:off x="457200" y="347472"/>
            <a:ext cx="2926080" cy="292608"/>
          </a:xfrm>
          <a:prstGeom prst="rect">
            <a:avLst/>
          </a:prstGeom>
          <a:solidFill>
            <a:srgbClr val="5B9BD5">
              <a:alpha val="70000"/>
            </a:srgbClr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0C7D82-DF35-E130-38C4-1EF241AB6FF8}"/>
              </a:ext>
            </a:extLst>
          </p:cNvPr>
          <p:cNvSpPr/>
          <p:nvPr/>
        </p:nvSpPr>
        <p:spPr>
          <a:xfrm>
            <a:off x="457200" y="347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BIG DATA Y BIOINFORMÁTICA — PROYECTO FINAL</a:t>
            </a:r>
            <a:endParaRPr lang="en-US" sz="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FCBC2C-3C0E-7AD0-C0AF-9A5CD133B332}"/>
              </a:ext>
            </a:extLst>
          </p:cNvPr>
          <p:cNvSpPr/>
          <p:nvPr/>
        </p:nvSpPr>
        <p:spPr>
          <a:xfrm>
            <a:off x="457200" y="2194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00E9FDB-16F7-AC2A-3412-5A6DDA9C134B}"/>
              </a:ext>
            </a:extLst>
          </p:cNvPr>
          <p:cNvSpPr/>
          <p:nvPr/>
        </p:nvSpPr>
        <p:spPr>
          <a:xfrm>
            <a:off x="457200" y="3063240"/>
            <a:ext cx="8229600" cy="36576"/>
          </a:xfrm>
          <a:prstGeom prst="rect">
            <a:avLst/>
          </a:prstGeom>
          <a:solidFill>
            <a:srgbClr val="5B9BD5">
              <a:alpha val="60000"/>
            </a:srgbClr>
          </a:solidFill>
          <a:ln w="12700">
            <a:solidFill>
              <a:srgbClr val="5B9BD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1D65A6A-00E1-CF50-315E-17A8D8EEBEE1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2E6DA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B115E89-13DF-9E74-A199-BB4CD9813B8D}"/>
              </a:ext>
            </a:extLst>
          </p:cNvPr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Dataset OPPD  ·  Gaussian Naïve Bayes  ·  PlantCV  ·  scikit-image  ·  Python</a:t>
            </a:r>
            <a:endParaRPr lang="en-US" sz="10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68B4BF-FBB1-1C37-43AF-CB387B14746C}"/>
              </a:ext>
            </a:extLst>
          </p:cNvPr>
          <p:cNvSpPr/>
          <p:nvPr/>
        </p:nvSpPr>
        <p:spPr>
          <a:xfrm>
            <a:off x="2746717" y="1767254"/>
            <a:ext cx="3650566" cy="127312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13B031E-DEDD-D6B5-7BCA-E5BB85F6CEDB}"/>
              </a:ext>
            </a:extLst>
          </p:cNvPr>
          <p:cNvSpPr txBox="1"/>
          <p:nvPr/>
        </p:nvSpPr>
        <p:spPr>
          <a:xfrm>
            <a:off x="3151165" y="1854660"/>
            <a:ext cx="3200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600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094593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2588A-9DCB-0E05-8FAE-C2563BCB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4FC3E2-D7A4-954F-0B42-9DCF46807E61}"/>
              </a:ext>
            </a:extLst>
          </p:cNvPr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9CDBE9-E941-5CE0-9F05-7EAE600421F0}"/>
              </a:ext>
            </a:extLst>
          </p:cNvPr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3920099-24AA-84B1-E204-FFCE7C90CFA1}"/>
              </a:ext>
            </a:extLst>
          </p:cNvPr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5B9BD5">
              <a:alpha val="70000"/>
            </a:srgbClr>
          </a:solidFill>
          <a:ln w="12700">
            <a:solidFill>
              <a:srgbClr val="5B9BD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EBF6B5-9723-5817-EB04-567F53D7A371}"/>
              </a:ext>
            </a:extLst>
          </p:cNvPr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4516EF-178C-F66C-94AD-DB6EEA1F7FDC}"/>
              </a:ext>
            </a:extLst>
          </p:cNvPr>
          <p:cNvSpPr/>
          <p:nvPr/>
        </p:nvSpPr>
        <p:spPr>
          <a:xfrm>
            <a:off x="1097280" y="19659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[1] S. L. Madsen, S. K. Mathiassen, M. Dyrmann, M. S. Laursen, L.-C. Paz y R. N. Jørgensen, “Open Plant Phenotype Database of Common Weeds in Denmark,” Remote Sensing, vol. 12, no. 8, p. 1246, 2020. </a:t>
            </a:r>
            <a:r>
              <a:rPr lang="en-US" sz="1200" dirty="0" err="1"/>
              <a:t>doi</a:t>
            </a:r>
            <a:r>
              <a:rPr lang="en-US" sz="1200" dirty="0"/>
              <a:t>: 10.3390/rs12081246.</a:t>
            </a:r>
          </a:p>
          <a:p>
            <a:r>
              <a:rPr lang="es-MX" sz="1200" dirty="0"/>
              <a:t>[2] </a:t>
            </a:r>
            <a:r>
              <a:rPr lang="es-MX" sz="1200" dirty="0" err="1"/>
              <a:t>RecFaces</a:t>
            </a:r>
            <a:r>
              <a:rPr lang="es-MX" sz="1200" dirty="0"/>
              <a:t>, “La visión por computadora,” [Imagen en línea]. Disponible en: https://recfaces.com/wp-content/uploads/2021/06/la-vision-por-computadora-scaled.jpg. [Accedido: 12-may-2026].</a:t>
            </a:r>
          </a:p>
          <a:p>
            <a:r>
              <a:rPr lang="es-MX" sz="1200" dirty="0"/>
              <a:t>[3] </a:t>
            </a:r>
            <a:r>
              <a:rPr lang="es-MX" sz="1200" dirty="0" err="1"/>
              <a:t>AgroEnlace</a:t>
            </a:r>
            <a:r>
              <a:rPr lang="es-MX" sz="1200" dirty="0"/>
              <a:t>, “Aplicación de herbicidas con mochila,” [Imagen en línea]. Disponible en: https://agroenlace.co/wp-content/uploads/2025/09/aplicacion-de-herbicidas-con-mochila.webp. [Accedido: 12-may-2026].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B558AAB-25A1-0E4D-011F-57CDE9A63C80}"/>
              </a:ext>
            </a:extLst>
          </p:cNvPr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DA86B99-BC8B-8C1B-92A0-12B4227B235D}"/>
              </a:ext>
            </a:extLst>
          </p:cNvPr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2E6DA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E77F37D-392F-05C1-7CAA-C8E8A6F380C5}"/>
              </a:ext>
            </a:extLst>
          </p:cNvPr>
          <p:cNvSpPr/>
          <p:nvPr/>
        </p:nvSpPr>
        <p:spPr>
          <a:xfrm>
            <a:off x="365760" y="4736592"/>
            <a:ext cx="8412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Mariana Castaño · Linda Cadena · Juan José Pineda  |  Big Data y Bioinformática — Universidad EAFIT  |  Medellín, 2026</a:t>
            </a:r>
            <a:endParaRPr lang="en-US" sz="10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5E54282-07F9-A2B4-B683-153924BB145E}"/>
              </a:ext>
            </a:extLst>
          </p:cNvPr>
          <p:cNvSpPr txBox="1"/>
          <p:nvPr/>
        </p:nvSpPr>
        <p:spPr>
          <a:xfrm>
            <a:off x="791308" y="298608"/>
            <a:ext cx="5310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Referencias </a:t>
            </a:r>
          </a:p>
        </p:txBody>
      </p:sp>
    </p:spTree>
    <p:extLst>
      <p:ext uri="{BB962C8B-B14F-4D97-AF65-F5344CB8AC3E}">
        <p14:creationId xmlns:p14="http://schemas.microsoft.com/office/powerpoint/2010/main" val="4176148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2558</Words>
  <Application>Microsoft Office PowerPoint</Application>
  <PresentationFormat>Presentación en pantalla (16:9)</PresentationFormat>
  <Paragraphs>346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Segmentación y Clasificación de Arvenses — OPPD</dc:title>
  <dc:subject>PptxGenJS Presentation</dc:subject>
  <dc:creator>PptxGenJS</dc:creator>
  <cp:lastModifiedBy>Linda Liceth Cadena Trujillo</cp:lastModifiedBy>
  <cp:revision>2</cp:revision>
  <dcterms:created xsi:type="dcterms:W3CDTF">2026-05-12T05:12:17Z</dcterms:created>
  <dcterms:modified xsi:type="dcterms:W3CDTF">2026-05-12T06:04:45Z</dcterms:modified>
</cp:coreProperties>
</file>